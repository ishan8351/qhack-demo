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ramai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406400"/>
            <a:ext cx="3429000" cy="1353553"/>
          </a:xfrm>
          <a:prstGeom prst="rect">
            <a:avLst/>
          </a:prstGeom>
        </p:spPr>
      </p:pic>
      <p:pic>
        <p:nvPicPr>
          <p:cNvPr id="4" name="Picture 3" descr="logo_ieeec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9400"/>
            <a:ext cx="2159000" cy="1328615"/>
          </a:xfrm>
          <a:prstGeom prst="rect">
            <a:avLst/>
          </a:prstGeom>
        </p:spPr>
      </p:pic>
      <p:pic>
        <p:nvPicPr>
          <p:cNvPr id="5" name="Picture 4" descr="logo_r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406400"/>
            <a:ext cx="698500" cy="960438"/>
          </a:xfrm>
          <a:prstGeom prst="rect">
            <a:avLst/>
          </a:prstGeom>
        </p:spPr>
      </p:pic>
      <p:pic>
        <p:nvPicPr>
          <p:cNvPr id="6" name="Picture 5" descr="logo_quantum_wee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406400"/>
            <a:ext cx="2667000" cy="1083469"/>
          </a:xfrm>
          <a:prstGeom prst="rect">
            <a:avLst/>
          </a:prstGeom>
        </p:spPr>
      </p:pic>
      <p:pic>
        <p:nvPicPr>
          <p:cNvPr id="7" name="Picture 6" descr="logo_ibm_quant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9000" y="533400"/>
            <a:ext cx="3429000" cy="734786"/>
          </a:xfrm>
          <a:prstGeom prst="rect">
            <a:avLst/>
          </a:prstGeom>
        </p:spPr>
      </p:pic>
      <p:pic>
        <p:nvPicPr>
          <p:cNvPr id="8" name="Picture 7" descr="logo_qhack_20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1714500"/>
            <a:ext cx="5207000" cy="17356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8000" y="3937000"/>
            <a:ext cx="2921000" cy="5588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Team Name: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4826000"/>
            <a:ext cx="3937000" cy="5588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Team Lead Name: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5651500"/>
            <a:ext cx="2159000" cy="5588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Track: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6477000"/>
            <a:ext cx="4953000" cy="5588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Problem Statement title: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74295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1B4B"/>
                </a:solidFill>
              </a:defRPr>
            </a:pPr>
            <a:r>
              <a:t>Q-SHIELD: End-to-End Quantum Security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831850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Discover, understand, protect, and migrate quantum-vulnerable cryptography before Q-day</a:t>
            </a:r>
          </a:p>
        </p:txBody>
      </p:sp>
      <p:pic>
        <p:nvPicPr>
          <p:cNvPr id="15" name="Picture 14" descr="hero_illustr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4000" y="2667000"/>
            <a:ext cx="5524500" cy="60806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47000" y="1803400"/>
            <a:ext cx="27940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Today's public-key cryptography has an expiry date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683000"/>
            <a:ext cx="50800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300" y="3987800"/>
            <a:ext cx="660400" cy="6604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4889500"/>
            <a:ext cx="4470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Shor breaks RSA &amp; ECC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300" y="5715000"/>
            <a:ext cx="447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A large fault-tolerant quantum computer running Shor's algorithm derives private keys from public keys in polynomial time. RSA, ECDSA, ECDH, and Diffie-Hellman all fall.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4000" y="3683000"/>
            <a:ext cx="50800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08800" y="3987800"/>
            <a:ext cx="660400" cy="6604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800" y="4889500"/>
            <a:ext cx="4470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Harvest now, decrypt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800" y="5715000"/>
            <a:ext cx="447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Attackers record encrypted network traffic and exfiltrate ciphertext today to decrypt once quantum hardware scales. Long-lived financial, healthcare, and state records are exposed already.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28500" y="3683000"/>
            <a:ext cx="50800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433300" y="3987800"/>
            <a:ext cx="660400" cy="6604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3300" y="4889500"/>
            <a:ext cx="4470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No inventory, no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3300" y="5715000"/>
            <a:ext cx="447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Most organizations lack visibility into where vulnerable algorithms live across polyglot repositories, configurations, and certificates, making multi-year migrations difficult to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8509000"/>
            <a:ext cx="16129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The clock is set: NIST standardized ML-KEM, ML-DSA, and SLH-DSA in August 2024 (FIPS 203–205) and plans to deprecate quantum-vulnerable public-key algorithms after 2030 (NIST IR 8547).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1600" y="1803400"/>
            <a:ext cx="28448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The deadline is set by your data, not by quantum computers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683000"/>
            <a:ext cx="7112000" cy="533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0500" y="3937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Who faces it</a:t>
            </a:r>
          </a:p>
        </p:txBody>
      </p:sp>
      <p:sp>
        <p:nvSpPr>
          <p:cNvPr id="12" name="Oval 11"/>
          <p:cNvSpPr/>
          <p:nvPr/>
        </p:nvSpPr>
        <p:spPr>
          <a:xfrm>
            <a:off x="1460500" y="4635500"/>
            <a:ext cx="457200" cy="4572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5500" y="4584700"/>
            <a:ext cx="5715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Banks &amp; payments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transaction records, card data, inter-bank clearing keys</a:t>
            </a:r>
          </a:p>
        </p:txBody>
      </p:sp>
      <p:sp>
        <p:nvSpPr>
          <p:cNvPr id="14" name="Oval 13"/>
          <p:cNvSpPr/>
          <p:nvPr/>
        </p:nvSpPr>
        <p:spPr>
          <a:xfrm>
            <a:off x="1460500" y="5676900"/>
            <a:ext cx="457200" cy="4572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5626100"/>
            <a:ext cx="5715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Healthcare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medical records and genomic data kept for decades</a:t>
            </a:r>
          </a:p>
        </p:txBody>
      </p:sp>
      <p:sp>
        <p:nvSpPr>
          <p:cNvPr id="16" name="Oval 15"/>
          <p:cNvSpPr/>
          <p:nvPr/>
        </p:nvSpPr>
        <p:spPr>
          <a:xfrm>
            <a:off x="1460500" y="6718300"/>
            <a:ext cx="457200" cy="4572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6667500"/>
            <a:ext cx="5715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Government &amp; defense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classified intelligence, citizen identity registries</a:t>
            </a:r>
          </a:p>
        </p:txBody>
      </p:sp>
      <p:sp>
        <p:nvSpPr>
          <p:cNvPr id="18" name="Oval 17"/>
          <p:cNvSpPr/>
          <p:nvPr/>
        </p:nvSpPr>
        <p:spPr>
          <a:xfrm>
            <a:off x="1460500" y="7759700"/>
            <a:ext cx="457200" cy="4572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5500" y="7708900"/>
            <a:ext cx="5715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Any organization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proprietary data that must stay secret for 10+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0" y="3683000"/>
            <a:ext cx="8636000" cy="533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500" y="3937000"/>
            <a:ext cx="787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Mosca's inequality: data is at risk when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500" y="4508500"/>
            <a:ext cx="7874000" cy="863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F4444"/>
                </a:solidFill>
              </a:defRPr>
            </a:pPr>
            <a:r>
              <a:t>X  +  Y  &gt;  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5461000"/>
            <a:ext cx="787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</a:defRPr>
            </a:pPr>
            <a:r>
              <a:t>X = years data must stay secret  ·  Y = years to migrate  ·  Z = years until Q-day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0" y="6032500"/>
            <a:ext cx="787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Example from our scan: QuantumBank payment-api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500" y="6540500"/>
            <a:ext cx="2413000" cy="533400"/>
          </a:xfrm>
          <a:prstGeom prst="roundRect">
            <a:avLst/>
          </a:prstGeom>
          <a:solidFill>
            <a:srgbClr val="F3F4F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records kept: 10 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84000" y="6540500"/>
            <a:ext cx="2413000" cy="533400"/>
          </a:xfrm>
          <a:prstGeom prst="roundRect">
            <a:avLst/>
          </a:prstGeom>
          <a:solidFill>
            <a:srgbClr val="F3F4F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migrate: 2.3 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14500" y="6540500"/>
            <a:ext cx="2413000" cy="533400"/>
          </a:xfrm>
          <a:prstGeom prst="roundRect">
            <a:avLst/>
          </a:prstGeom>
          <a:solidFill>
            <a:srgbClr val="F3F4F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Q-day ≈ 12 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500" y="7366000"/>
            <a:ext cx="7874000" cy="13335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Result: 10.0 + 2.3 = 12.3 y &gt; 12.0 y (Q-day)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RSA-protected financial records outlive their encryption today, rated high exposure. Migration has to start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16800" y="1803400"/>
            <a:ext cx="34544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One platform from discovery to migration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619500"/>
            <a:ext cx="3873500" cy="425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08100" y="38735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962400"/>
            <a:ext cx="2667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8100" y="4572000"/>
            <a:ext cx="3429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</a:defRPr>
            </a:pPr>
            <a:r>
              <a:t>Crypto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8100" y="53340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Scans Python, Java, JS and Go code, SSH/JWT configs, X.509 certificates and committed keys into a Cryptographic Bill of Materials.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3500" y="3619500"/>
            <a:ext cx="3873500" cy="425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2100" y="38735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100" y="3962400"/>
            <a:ext cx="2667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2100" y="4572000"/>
            <a:ext cx="3429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</a:defRPr>
            </a:pPr>
            <a:r>
              <a:t>Risk + quantum threat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2100" y="53340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Readiness score 0–100, harvest-now-decrypt-later exposure per data class, Shor and Grover simulated.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07500" y="3619500"/>
            <a:ext cx="3873500" cy="425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36100" y="38735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1100" y="3962400"/>
            <a:ext cx="2667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100" y="4572000"/>
            <a:ext cx="3429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</a:defRPr>
            </a:pPr>
            <a:r>
              <a:t>PQC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100" y="53340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Quantum-safe channel with ML-KEM-768 key exchange and ML-DSA-65 signatures, hybrid with X25519.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71500" y="3619500"/>
            <a:ext cx="3873500" cy="425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500100" y="38735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35100" y="3962400"/>
            <a:ext cx="2667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MIGRATE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00100" y="4572000"/>
            <a:ext cx="3429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</a:defRPr>
            </a:pPr>
            <a:r>
              <a:t>Crypto-agility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00100" y="53340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A replacement for every finding, a 4-phase roadmap and the projected readiness after each phase.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9500" y="8102600"/>
            <a:ext cx="16065500" cy="101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3500" y="8229600"/>
            <a:ext cx="1555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7597"/>
                </a:solidFill>
              </a:rPr>
              <a:t>5  </a:t>
            </a:r>
            <a:r>
              <a:rPr sz="1600" b="1">
                <a:solidFill>
                  <a:srgbClr val="111827"/>
                </a:solidFill>
              </a:rPr>
              <a:t>AI SECURITY COPILOT:  </a:t>
            </a:r>
            <a:r>
              <a:rPr sz="1400">
                <a:solidFill>
                  <a:srgbClr val="374151"/>
                </a:solidFill>
              </a:rPr>
              <a:t>Explains the risk, answers "what should we migrate first?", writes developer tickets and an executive audit report, strictly grounded in verified CBOM finding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47000" y="1803400"/>
            <a:ext cx="27940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Why Quantum?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Quantum computing is both the threat and our method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556000"/>
            <a:ext cx="7747000" cy="23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500" y="3746500"/>
            <a:ext cx="7239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The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254500"/>
            <a:ext cx="723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Shor's algorithm  </a:t>
            </a:r>
            <a:r>
              <a:rPr b="1" sz="1200">
                <a:solidFill>
                  <a:srgbClr val="EF4444"/>
                </a:solidFill>
              </a:rPr>
              <a:t>[ Broken ]
</a:t>
            </a:r>
            <a:r>
              <a:rPr sz="1200">
                <a:solidFill>
                  <a:srgbClr val="374151"/>
                </a:solidFill>
              </a:rPr>
              <a:t>Exponential speedup for factoring and discrete logarithms: RSA and elliptic-curve keys can be derived from public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016500"/>
            <a:ext cx="723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Grover's algorithm  </a:t>
            </a:r>
            <a:r>
              <a:rPr b="1" sz="1200">
                <a:solidFill>
                  <a:srgbClr val="F59E0B"/>
                </a:solidFill>
              </a:rPr>
              <a:t>[ Weakened ]
</a:t>
            </a:r>
            <a:r>
              <a:rPr sz="1200">
                <a:solidFill>
                  <a:srgbClr val="374151"/>
                </a:solidFill>
              </a:rPr>
              <a:t>Quadratic speedup for brute-force search: AES-128 drops to about 64-bit strength; AES-256 keeps 128 bits.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556000"/>
            <a:ext cx="8001000" cy="23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8000" y="3746500"/>
            <a:ext cx="7493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Our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0" y="4254500"/>
            <a:ext cx="749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Exact statevector simulation of Shor's period finding: modular exponentiation f(x) = a^x mod N, inverse QFT, measurement, then continued fractions and gcd.</a:t>
            </a:r>
            <a:br/>
            <a:br/>
            <a:r>
              <a:t>Post-quantum ML-KEM and ML-DSA are built on lattice problems that resist this adversary because they lack periodic abelian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9500" y="6096000"/>
            <a:ext cx="160655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0500" y="6286500"/>
            <a:ext cx="1524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Shor simulation, N = 15, a = 7: peaks occur every Q/r = 64 (s in {0, 64, 128, 192})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8382000"/>
            <a:ext cx="127000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7112000"/>
            <a:ext cx="254000" cy="1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13000" y="8458200"/>
            <a:ext cx="76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9500" y="6781800"/>
            <a:ext cx="889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P=0.25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7112000"/>
            <a:ext cx="254000" cy="1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1000" y="8458200"/>
            <a:ext cx="76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</a:defRPr>
            </a:pPr>
            <a: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7500" y="6781800"/>
            <a:ext cx="889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P=0.25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00" y="7112000"/>
            <a:ext cx="254000" cy="1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000" y="8458200"/>
            <a:ext cx="76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</a:defRPr>
            </a:pPr>
            <a:r>
              <a:t>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5500" y="6781800"/>
            <a:ext cx="889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P=0.25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11000" y="7112000"/>
            <a:ext cx="254000" cy="1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57000" y="8458200"/>
            <a:ext cx="76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</a:defRPr>
            </a:pPr>
            <a:r>
              <a:t>192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93500" y="6781800"/>
            <a:ext cx="889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P=0.25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59000" y="7112000"/>
            <a:ext cx="254000" cy="1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05000" y="8458200"/>
            <a:ext cx="76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</a:defRPr>
            </a:pPr>
            <a:r>
              <a:t>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41500" y="6781800"/>
            <a:ext cx="889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P=0.25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94400" y="1803400"/>
            <a:ext cx="62992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Implementation and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One inventory feeds every module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556000"/>
            <a:ext cx="3048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500" y="3746500"/>
            <a:ext cx="254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318000"/>
            <a:ext cx="2540000" cy="35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Git repository URL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ZIP archive upload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Polyglot source code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Server configurations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Certificates &amp;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1500" y="3556000"/>
            <a:ext cx="7620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5500" y="3746500"/>
            <a:ext cx="7112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FastAPI backend (Python)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35500" y="43815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Crypto scanner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Polyglot static analysis with comment stripping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43815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Risk engine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Mosca inequality &amp; Grover degradation calculation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5500" y="53340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Quantum simulator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Exact statevector Shor &amp; multi-qubit circuits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500" y="53340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PQC gateway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Hybrid ML-KEM-768 + ML-DSA-65 channel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5500" y="62865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Migration engine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Contextual code replacement diff generator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1500" y="6286500"/>
            <a:ext cx="3365500" cy="825500"/>
          </a:xfrm>
          <a:prstGeom prst="roundRect">
            <a:avLst/>
          </a:prstGeom>
          <a:solidFill>
            <a:srgbClr val="F3F4F6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AI copilot</a:t>
            </a:r>
          </a:p>
          <a:p>
            <a:pPr>
              <a:defRPr sz="1000">
                <a:solidFill>
                  <a:srgbClr val="6B7280"/>
                </a:solidFill>
              </a:defRPr>
            </a:pPr>
            <a:r>
              <a:t>Grounded advisor validated against SQLite CBOM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5500" y="7366000"/>
            <a:ext cx="7112000" cy="533400"/>
          </a:xfrm>
          <a:prstGeom prst="roundRect">
            <a:avLst/>
          </a:prstGeom>
          <a:solidFill>
            <a:srgbClr val="EEF2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Cryptographic Bill of Materials (CycloneDX 1.6 Schema) · 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55500" y="3556000"/>
            <a:ext cx="48895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09500" y="3746500"/>
            <a:ext cx="43815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09500" y="4318000"/>
            <a:ext cx="4381500" cy="35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Guided console (5 stages / 7 tabs)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Quantum-safe encrypted channel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Executive risk audit report (Markdown)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Developer tickets (Jira / GitHub)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Machine-readable CBOM export (JSON)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9500" y="8318500"/>
            <a:ext cx="1606550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3500" y="8407400"/>
            <a:ext cx="15557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Stack: Python · FastAPI · pyca/cryptography (OpenSSL 3.5) for ML-KEM-768, ML-DSA-65, AES-256-GCM · NumPy statevector · SQLite · Plain JS + SVG · Docker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16800" y="1803400"/>
            <a:ext cx="34544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Minimal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A working platform, not a mock-up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492500"/>
            <a:ext cx="8255000" cy="55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3619500"/>
            <a:ext cx="8001000" cy="5000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6500" y="8636000"/>
            <a:ext cx="8001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Overview: scan of QuantumBank, 27 assets cataloged, readiness evaluated at 33/100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8500" y="3492500"/>
            <a:ext cx="3683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_sh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0100" y="3594100"/>
            <a:ext cx="3479800" cy="2174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0100" y="5842000"/>
            <a:ext cx="34798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Shor simulation on 143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62000" y="3492500"/>
            <a:ext cx="3683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pq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63600" y="3594100"/>
            <a:ext cx="3479800" cy="2174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63600" y="5842000"/>
            <a:ext cx="34798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ML-KEM chat, tamper 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500" y="6286500"/>
            <a:ext cx="3683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_road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0100" y="6388100"/>
            <a:ext cx="3479800" cy="2174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90100" y="8636000"/>
            <a:ext cx="34798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Roadmap: 33 → 84 → 96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62000" y="6286500"/>
            <a:ext cx="3683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_copil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63600" y="6388100"/>
            <a:ext cx="3479800" cy="2174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563600" y="8636000"/>
            <a:ext cx="34798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Grounded AI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12000" y="1803400"/>
            <a:ext cx="40640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Results /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Validated on a seeded bank, end to end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492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683000"/>
            <a:ext cx="34925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t>27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4445000"/>
            <a:ext cx="3492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seeded crypto assets found in QuantumBank, 0 hits on commented-out code or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3500" y="3492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683000"/>
            <a:ext cx="34925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33 → 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0" y="4445000"/>
            <a:ext cx="3492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readiness after roadmap phases 1–3 (96 after phase 4), recomputed by the risk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07500" y="3492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0" y="3683000"/>
            <a:ext cx="34925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8,954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0" y="4445000"/>
            <a:ext cx="3492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hybrid ML-KEM-768 + ML-DSA-65 handshake, a few ms of compute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71500" y="3492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62000" y="3683000"/>
            <a:ext cx="34925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62000" y="4445000"/>
            <a:ext cx="3492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automated tests passing, including tamper, replay and MITM rejection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9500" y="5969000"/>
            <a:ext cx="73660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3500" y="6159500"/>
            <a:ext cx="685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Quantum Readiness by roadmap phase (QuantumBank)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8000" y="7950200"/>
            <a:ext cx="635000" cy="6223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51000" y="7645400"/>
            <a:ext cx="88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33.0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7500" y="8648700"/>
            <a:ext cx="101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4500" y="7772400"/>
            <a:ext cx="635000" cy="8001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7500" y="7467600"/>
            <a:ext cx="88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42.0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4000" y="8648700"/>
            <a:ext cx="101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Phase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1000" y="7531100"/>
            <a:ext cx="635000" cy="10414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4000" y="7226300"/>
            <a:ext cx="88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55.0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0500" y="8648700"/>
            <a:ext cx="101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Phase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7500" y="6972300"/>
            <a:ext cx="635000" cy="16002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0500" y="6667500"/>
            <a:ext cx="88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84.0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7000" y="8648700"/>
            <a:ext cx="101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Phase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4000" y="6743700"/>
            <a:ext cx="635000" cy="18288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6438900"/>
            <a:ext cx="88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96.0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3500" y="8648700"/>
            <a:ext cx="101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Phase 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99500" y="5969000"/>
            <a:ext cx="84455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7000" y="6159500"/>
            <a:ext cx="787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Also validated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7000" y="6667500"/>
            <a:ext cx="7874000" cy="222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Shor simulation factors 15, 21, 143, 221 and 247; peaks match theory exactly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ML-KEM/ML-DSA wire sizes match FIPS 203/204 (1184 B key, 1088 B ciphertext, 3309 B signature)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Copilot cites only real finding IDs; invented IDs are flagged and rejected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ZIP-slip archives and unsafe Git URLs rejected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47000" y="1803400"/>
            <a:ext cx="27940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From demo app to real codebases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556000"/>
            <a:ext cx="3873500" cy="438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08100" y="38100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8100" y="4508500"/>
            <a:ext cx="3429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Deeper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8100" y="5207000"/>
            <a:ext cx="3429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AST and data-flow analysis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Binaries and container images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Live TLS/SSH endpoint scanning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3556000"/>
            <a:ext cx="3873500" cy="438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2100" y="38100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4508500"/>
            <a:ext cx="3429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Standards &amp;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5207000"/>
            <a:ext cx="3429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CycloneDX CBOM export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CI gate blocking vulnerable crypto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Automated GitHub app remediation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7500" y="3556000"/>
            <a:ext cx="3873500" cy="438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36100" y="38100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100" y="4508500"/>
            <a:ext cx="3429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Production PQC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100" y="5207000"/>
            <a:ext cx="3429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Hybrid TLS gateway (X25519MLKEM768)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Post-quantum / composite certificates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Cloud KMS and HSM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71500" y="3556000"/>
            <a:ext cx="3873500" cy="438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500100" y="3810000"/>
            <a:ext cx="508000" cy="508000"/>
          </a:xfrm>
          <a:prstGeom prst="ellipse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0100" y="4508500"/>
            <a:ext cx="3429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Real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00100" y="5207000"/>
            <a:ext cx="3429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74151"/>
                </a:solidFill>
              </a:defRPr>
            </a:pPr>
            <a:r>
              <a:t>• Precision/recall on public repos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Enterprise pilot with a partner bank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• Shor N = 15 on IBM Quantum hardware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9500" y="8191500"/>
            <a:ext cx="16065500" cy="88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3500" y="8318500"/>
            <a:ext cx="155575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Round 2 goal: scan real repositories with measured accuracy, and run the period-finding circuit on real quantum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quantum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7500"/>
            <a:ext cx="2667000" cy="1083469"/>
          </a:xfrm>
          <a:prstGeom prst="rect">
            <a:avLst/>
          </a:prstGeom>
        </p:spPr>
      </p:pic>
      <p:pic>
        <p:nvPicPr>
          <p:cNvPr id="4" name="Picture 3" descr="logo_r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0" y="279400"/>
            <a:ext cx="635000" cy="873125"/>
          </a:xfrm>
          <a:prstGeom prst="rect">
            <a:avLst/>
          </a:prstGeom>
        </p:spPr>
      </p:pic>
      <p:pic>
        <p:nvPicPr>
          <p:cNvPr id="5" name="Picture 4" descr="logo_ibm_qua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406400"/>
            <a:ext cx="3302000" cy="7075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8800" y="1803400"/>
            <a:ext cx="4470400" cy="609600"/>
          </a:xfrm>
          <a:prstGeom prst="roundRect">
            <a:avLst/>
          </a:prstGeom>
          <a:solidFill>
            <a:srgbClr val="FF7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References and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667000"/>
            <a:ext cx="1574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</a:defRPr>
            </a:pPr>
            <a:r>
              <a:t>Standards, Research and Foundations</a:t>
            </a:r>
          </a:p>
        </p:txBody>
      </p:sp>
      <p:pic>
        <p:nvPicPr>
          <p:cNvPr id="8" name="Picture 7" descr="mascot_bird_cor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0" y="8128000"/>
            <a:ext cx="1397000" cy="1479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9652000"/>
            <a:ext cx="1828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597"/>
                </a:solidFill>
              </a:rPr>
              <a:t>•  </a:t>
            </a:r>
            <a:r>
              <a:rPr sz="1300" b="1">
                <a:solidFill>
                  <a:srgbClr val="111827"/>
                </a:solidFill>
              </a:rPr>
              <a:t>Q-Hack India 2026</a:t>
            </a:r>
            <a:r>
              <a:rPr sz="1300" b="1">
                <a:solidFill>
                  <a:srgbClr val="FF7597"/>
                </a:solidFill>
              </a:rPr>
              <a:t>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492500"/>
            <a:ext cx="7810500" cy="488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500" y="3683000"/>
            <a:ext cx="73025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Standards &amp;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191000"/>
            <a:ext cx="7302500" cy="400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374151"/>
                </a:solidFill>
              </a:defRPr>
            </a:pPr>
            <a:r>
              <a:t>• NIST FIPS 203 (ML-KEM), 204 (ML-DSA), 205 (SLH-DSA), Aug 2024.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NIST IR 8547 (initial public draft), Transition to Post-Quantum Cryptography, Nov 2024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P. W. Shor, Polynomial-time algorithms for prime factorization on quantum computer, 1997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L. K. Grover, A fast quantum mechanical algorithm for database search, STOC 1996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M. Mosca, Cybersecurity in an era with quantum computers: will we be ready?, IEEE 2018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C. Gidney, M. Ekerå, Factor 2048-bit RSA in 8h using 20M noisy qubits, arXiv:1905.09749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C. Gidney, Factor 2048-bit RSA with less than a million noisy qubits, arXiv:2505.15917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7500" y="3492500"/>
            <a:ext cx="7937500" cy="488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1500" y="3683000"/>
            <a:ext cx="74295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Software &amp;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1500" y="4191000"/>
            <a:ext cx="74295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374151"/>
                </a:solidFill>
              </a:defRPr>
            </a:pPr>
            <a:r>
              <a:t>• pyca/cryptography: ML-KEM, ML-DSA, AES-GCM, HKDF bindings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FastAPI, NumPy, Pydantic, Uvicorn, SQLite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Anthropic Claude &amp; Google Gemini APIs (Security Copilot)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CycloneDX 1.6 Cryptographic Bill of Materials (CBOM) specification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Open Quantum Safe (OQS) project (architectural reference)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1500" y="6667500"/>
            <a:ext cx="7429500" cy="1460500"/>
          </a:xfrm>
          <a:prstGeom prst="roundRect">
            <a:avLst/>
          </a:prstGeom>
          <a:solidFill>
            <a:srgbClr val="F3F4F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Originality Statement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Q-SHIELD is our team's original implementation engineered for Q-Hack India 2026. Foundational libraries are consumed as dependencies, not forked or copied.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